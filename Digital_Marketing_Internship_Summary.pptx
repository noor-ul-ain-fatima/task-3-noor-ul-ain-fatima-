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2743200" cy="274320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112425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INTERNSHIP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Weeks of SEO, Keyword Strategy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Digital Asset Engineering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my journey through DecodeLabs' virtual internship program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5029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Noor-Ul-Ain Fatima  |  Final-Year Computer Engineering, BZU Multan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Virtual Internship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INTERNSHIP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Weeks, Four Building Blocks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28316" cy="4206240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E9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538478" y="26517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988" y="284927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66160"/>
            <a:ext cx="2071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&amp; Market Research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20711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DecodeLabs' target niche — data science, AI/ML, Python &amp; full-stack development — and studied audience needs.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4428" y="1783080"/>
            <a:ext cx="2528316" cy="4206240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3028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E9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322826" y="26517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336" y="284927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3028" y="3566160"/>
            <a:ext cx="2071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Keyword Research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3028" y="4251960"/>
            <a:ext cx="20711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core SEO principles and the Keyword Golden Ratio (KGR) formula to uncover low-competition opportunities.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08776" y="1783080"/>
            <a:ext cx="2528316" cy="4206240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37376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E9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7107174" y="26517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684" y="2849270"/>
            <a:ext cx="336499" cy="33649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37376" y="3566160"/>
            <a:ext cx="2071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Engineering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37376" y="4251960"/>
            <a:ext cx="20711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engineer content as a structured, conversion-focused digital asset rather than a plain article.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93124" y="1783080"/>
            <a:ext cx="2528316" cy="4206240"/>
          </a:xfrm>
          <a:prstGeom prst="roundRect">
            <a:avLst>
              <a:gd name="adj" fmla="val 2893"/>
            </a:avLst>
          </a:prstGeom>
          <a:solidFill>
            <a:srgbClr val="F2F8F7"/>
          </a:solidFill>
          <a:ln w="12700">
            <a:solidFill>
              <a:srgbClr val="DCEAE8"/>
            </a:solidFill>
            <a:prstDash val="solid"/>
          </a:ln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221724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E9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19"/>
          <p:cNvSpPr/>
          <p:nvPr/>
        </p:nvSpPr>
        <p:spPr>
          <a:xfrm>
            <a:off x="9891522" y="26517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9032" y="2849270"/>
            <a:ext cx="336499" cy="33649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21724" y="3566160"/>
            <a:ext cx="2071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Wrap-Up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21724" y="4251960"/>
            <a:ext cx="20711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all learnings from the internship into this final presentation.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Digital Marketing Internship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236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 &amp; Market Research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0815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776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before strategy — understanding who we serve and where they search.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63440" y="548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Week Covered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663440" y="123444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135788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5232" y="12161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Niche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285232" y="152704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Pinpointed DecodeLabs' core focus areas: data science, AI/ML, Python, and full-stack development.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228600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84" y="240944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85232" y="22677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Research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285232" y="257860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learners and job-seekers DecodeLabs serves, and what information they actively search for.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63440" y="333756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4" y="3461004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85232" y="33192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5285232" y="363016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at how similar ed-tech and internship platforms position their content and offers.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63440" y="4389120"/>
            <a:ext cx="457200" cy="457200"/>
          </a:xfrm>
          <a:prstGeom prst="ellipse">
            <a:avLst/>
          </a:prstGeom>
          <a:solidFill>
            <a:srgbClr val="F2F8F7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884" y="451256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85232" y="43708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Direction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5285232" y="46817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became the foundation for every keyword and content decision in the following weeks.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Digital Marketing Internship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Fundamentals &amp; the KGR Formula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434840"/>
          </a:xfrm>
          <a:prstGeom prst="roundRect">
            <a:avLst>
              <a:gd name="adj" fmla="val 2062"/>
            </a:avLst>
          </a:prstGeom>
          <a:solidFill>
            <a:srgbClr val="02363D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25491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Golden Ratio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202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to find low-competition, high-opportunity keywords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310896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0A4750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1089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KGR  =  Allintitle Results  ÷  Monthly Search Volume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05840" y="43068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4178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0.25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834640" y="4178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opportunity — low competition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4764024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1280160" y="4636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– 1.00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4636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pursuing with effort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5221224"/>
            <a:ext cx="146304" cy="146304"/>
          </a:xfrm>
          <a:prstGeom prst="ellipse">
            <a:avLst/>
          </a:prstGeom>
          <a:solidFill>
            <a:srgbClr val="7FA8A4"/>
          </a:solidFill>
          <a:ln/>
        </p:spPr>
      </p:sp>
      <p:sp>
        <p:nvSpPr>
          <p:cNvPr id="18" name="Text 15"/>
          <p:cNvSpPr/>
          <p:nvPr/>
        </p:nvSpPr>
        <p:spPr>
          <a:xfrm>
            <a:off x="1280160" y="50932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1.00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834640" y="5093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competition — harder to rank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21792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Intent Categories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17920" y="2194560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F2F8F7"/>
          </a:solidFill>
          <a:ln/>
        </p:spPr>
      </p:sp>
      <p:sp>
        <p:nvSpPr>
          <p:cNvPr id="22" name="Text 19"/>
          <p:cNvSpPr/>
          <p:nvPr/>
        </p:nvSpPr>
        <p:spPr>
          <a:xfrm>
            <a:off x="6446520" y="2267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0100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wants to learn something (“how to...”, “what is...”)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7920" y="3035808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F2F8F7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001000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comparing options before a decision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17920" y="3877056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F2F8F7"/>
          </a:solidFill>
          <a:ln/>
        </p:spPr>
      </p:sp>
      <p:sp>
        <p:nvSpPr>
          <p:cNvPr id="28" name="Text 25"/>
          <p:cNvSpPr/>
          <p:nvPr/>
        </p:nvSpPr>
        <p:spPr>
          <a:xfrm>
            <a:off x="6446520" y="3950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01000" y="39502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ready to act, sign up, or buy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17920" y="4718304"/>
            <a:ext cx="5303520" cy="713232"/>
          </a:xfrm>
          <a:prstGeom prst="roundRect">
            <a:avLst>
              <a:gd name="adj" fmla="val 8974"/>
            </a:avLst>
          </a:prstGeom>
          <a:solidFill>
            <a:srgbClr val="F2F8F7"/>
          </a:solidFill>
          <a:ln/>
        </p:spPr>
      </p:sp>
      <p:sp>
        <p:nvSpPr>
          <p:cNvPr id="31" name="Text 28"/>
          <p:cNvSpPr/>
          <p:nvPr/>
        </p:nvSpPr>
        <p:spPr>
          <a:xfrm>
            <a:off x="6446520" y="479145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Navigational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001000" y="47914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looking for a specific site or brand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217920" y="5696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Built This Week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217920" y="610819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5" name="Text 32"/>
          <p:cNvSpPr/>
          <p:nvPr/>
        </p:nvSpPr>
        <p:spPr>
          <a:xfrm>
            <a:off x="6217920" y="61081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Research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028432" y="610819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7" name="Text 34"/>
          <p:cNvSpPr/>
          <p:nvPr/>
        </p:nvSpPr>
        <p:spPr>
          <a:xfrm>
            <a:off x="8028432" y="61081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9838944" y="610819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9" name="Text 36"/>
          <p:cNvSpPr/>
          <p:nvPr/>
        </p:nvSpPr>
        <p:spPr>
          <a:xfrm>
            <a:off x="9838944" y="61081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 Basics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Digital Marketing Internship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Verified KGR Keywords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955280" y="3474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55280" y="777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KGR Score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372600" y="3474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777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as “Great”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3474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789920" y="777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0807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606040"/>
                <a:gridCol w="548640"/>
                <a:gridCol w="502920"/>
                <a:gridCol w="640080"/>
                <a:gridCol w="502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Long-Tail Keyword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Intent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Vol.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Allintitle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KGR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how to calculate kgr for seo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best free keyword research tools for beginners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Comm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what is a good keyword difficulty score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how to find long tail keywords for free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210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informational vs transactional intent examples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how to use google search console for seo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why is my website not ranking on google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how to write seo friendly blog posts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difference between seo and sem for small business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how to do a competitor keyword analysis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234440"/>
          <a:ext cx="60807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606040"/>
                <a:gridCol w="548640"/>
                <a:gridCol w="502920"/>
                <a:gridCol w="640080"/>
                <a:gridCol w="502920"/>
              </a:tblGrid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Long-Tail Keyword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Intent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Vol.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Allintitle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KGR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363D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best seo plugins for wordpress 2024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Comm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how to optimize images for seo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what are lsi keywords and how to find them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how long does it take to rank on google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220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local seo checklist for small business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how to build backlinks for a new 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what is search intent in digital marketing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how to track seo roi for saas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can you do seo without a blog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2302E"/>
                          </a:solidFill>
                        </a:rPr>
                        <a:t>how to fix orphan pages on 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Info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7A78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</a:rPr>
                        <a:t>0.20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4406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2F8F7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5440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keywords scored below the 0.25 KGR threshold — qualifying as “Great” opportunities for DecodeLabs' niche (data science, AI/ML, Python, full-stack development).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Digital Marketing Internship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Asset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content writing into a structured, performance-driven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166360" cy="3931920"/>
          </a:xfrm>
          <a:prstGeom prst="roundRect">
            <a:avLst>
              <a:gd name="adj" fmla="val 2326"/>
            </a:avLst>
          </a:prstGeom>
          <a:solidFill>
            <a:srgbClr val="0A475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14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Content Writing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3172968"/>
            <a:ext cx="91440" cy="91440"/>
          </a:xfrm>
          <a:prstGeom prst="ellipse">
            <a:avLst/>
          </a:prstGeom>
          <a:solidFill>
            <a:srgbClr val="6E9B9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17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writing, not performance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739896"/>
            <a:ext cx="91440" cy="91440"/>
          </a:xfrm>
          <a:prstGeom prst="ellipse">
            <a:avLst/>
          </a:prstGeom>
          <a:solidFill>
            <a:srgbClr val="6E9B9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844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unstructured paragraphs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4306824"/>
            <a:ext cx="91440" cy="91440"/>
          </a:xfrm>
          <a:prstGeom prst="ellipse">
            <a:avLst/>
          </a:prstGeom>
          <a:solidFill>
            <a:srgbClr val="6E9B9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1513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only — no clear 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4873752"/>
            <a:ext cx="91440" cy="91440"/>
          </a:xfrm>
          <a:prstGeom prst="ellipse">
            <a:avLst/>
          </a:prstGeom>
          <a:solidFill>
            <a:srgbClr val="6E9B9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71830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or no SEO optimization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5440680"/>
            <a:ext cx="91440" cy="91440"/>
          </a:xfrm>
          <a:prstGeom prst="ellipse">
            <a:avLst/>
          </a:prstGeom>
          <a:solidFill>
            <a:srgbClr val="6E9B96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52852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reading experience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2240280"/>
            <a:ext cx="5166360" cy="3931920"/>
          </a:xfrm>
          <a:prstGeom prst="roundRect">
            <a:avLst>
              <a:gd name="adj" fmla="val 2326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514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Engineering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75120" y="3172968"/>
            <a:ext cx="91440" cy="91440"/>
          </a:xfrm>
          <a:prstGeom prst="ellipse">
            <a:avLst/>
          </a:prstGeom>
          <a:solidFill>
            <a:srgbClr val="02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3017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measurable performance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3739896"/>
            <a:ext cx="91440" cy="91440"/>
          </a:xfrm>
          <a:prstGeom prst="ellipse">
            <a:avLst/>
          </a:prstGeom>
          <a:solidFill>
            <a:srgbClr val="02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35844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scannable structure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4306824"/>
            <a:ext cx="91440" cy="91440"/>
          </a:xfrm>
          <a:prstGeom prst="ellipse">
            <a:avLst/>
          </a:prstGeom>
          <a:solidFill>
            <a:srgbClr val="02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1513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combined with conversion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4873752"/>
            <a:ext cx="91440" cy="91440"/>
          </a:xfrm>
          <a:prstGeom prst="ellipse">
            <a:avLst/>
          </a:prstGeom>
          <a:solidFill>
            <a:srgbClr val="02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471830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built into every section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5440680"/>
            <a:ext cx="91440" cy="91440"/>
          </a:xfrm>
          <a:prstGeom prst="ellipse">
            <a:avLst/>
          </a:prstGeom>
          <a:solidFill>
            <a:srgbClr val="02363D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52852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user journey to a clear next step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Digital Marketing Internship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S.C.A.N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checklist for reviewing whether content is built to perform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224028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44018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heading hierarchy (H1, H2, H3) and a logical flow from start to finish.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9202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4820" y="224028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27482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57600" y="3429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8862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language, concise explanations, no unnecessary complexity.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09460" y="224028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10946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38862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formatting, readable spacing, easy to scan on any device.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0" y="19202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44100" y="2240280"/>
            <a:ext cx="1005840" cy="1005840"/>
          </a:xfrm>
          <a:prstGeom prst="ellipse">
            <a:avLst/>
          </a:prstGeom>
          <a:solidFill>
            <a:srgbClr val="02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994410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326880" y="3429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72600" y="38862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call to action telling the reader exactly what to do next.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Digital Marketing Internship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On-Page SEO &amp; Conversion-Driven CTAs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Primary Keyword Belongs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2F8F7"/>
          </a:solidFill>
          <a:ln w="9525">
            <a:solidFill>
              <a:srgbClr val="CFE6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title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2F8F7"/>
          </a:solidFill>
          <a:ln w="9525">
            <a:solidFill>
              <a:srgbClr val="CF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103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words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2F8F7"/>
          </a:solidFill>
          <a:ln w="9525">
            <a:solidFill>
              <a:srgbClr val="CFE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H2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274320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2F8F7"/>
          </a:solidFill>
          <a:ln w="9525">
            <a:solidFill>
              <a:srgbClr val="CFE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743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title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2F8F7"/>
          </a:solidFill>
          <a:ln w="9525">
            <a:solidFill>
              <a:srgbClr val="CF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29000" y="338328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2F8F7"/>
          </a:solidFill>
          <a:ln w="9525">
            <a:solidFill>
              <a:srgbClr val="CFE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383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slug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2F8F7"/>
          </a:solidFill>
          <a:ln w="9525">
            <a:solidFill>
              <a:srgbClr val="CFE6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/ CTA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 — Stand Out From Consensus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184648"/>
            <a:ext cx="256032" cy="256032"/>
          </a:xfrm>
          <a:prstGeom prst="ellipse">
            <a:avLst/>
          </a:prstGeom>
          <a:solidFill>
            <a:srgbClr val="DFF3F0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09" y="5253777"/>
            <a:ext cx="117775" cy="11777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05840" y="5184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framework or checklist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5513832"/>
            <a:ext cx="256032" cy="256032"/>
          </a:xfrm>
          <a:prstGeom prst="ellipse">
            <a:avLst/>
          </a:prstGeom>
          <a:solidFill>
            <a:srgbClr val="DFF3F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09" y="5582961"/>
            <a:ext cx="117775" cy="11777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05840" y="5513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practical examples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0080" y="5843016"/>
            <a:ext cx="256032" cy="256032"/>
          </a:xfrm>
          <a:prstGeom prst="ellipse">
            <a:avLst/>
          </a:prstGeom>
          <a:solidFill>
            <a:srgbClr val="DFF3F0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09" y="5912145"/>
            <a:ext cx="117775" cy="11777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05840" y="58430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40080" y="6172200"/>
            <a:ext cx="256032" cy="256032"/>
          </a:xfrm>
          <a:prstGeom prst="ellipse">
            <a:avLst/>
          </a:prstGeom>
          <a:solidFill>
            <a:srgbClr val="DFF3F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09" y="6241329"/>
            <a:ext cx="117775" cy="1177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05840" y="61722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industry insights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CTA Types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6492240" y="21031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693408" y="2286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196" y="2421788"/>
            <a:ext cx="231343" cy="23134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60920" y="22128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Urgency-Based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360920" y="25328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 Your Strategy Call Today — Limited Slots”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492240" y="3127248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693408" y="331012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196" y="3445916"/>
            <a:ext cx="231343" cy="231343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360920" y="323697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Incentive-Based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7360920" y="355701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“Download Your Free Content Checklist”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6492240" y="4151376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693408" y="4334256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196" y="4470044"/>
            <a:ext cx="231343" cy="231343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360920" y="42611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7360920" y="45811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SEO Content That Ranks and Converts”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Digital Marketing Internship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From the Internship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566" y="2105406"/>
            <a:ext cx="315468" cy="315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92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comes first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3134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audience and niche shapes every keyword and content decision that follows.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20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126" y="210540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92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competition, real opportunity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3134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KGR formula showed how to find keywords worth targeting — not just popular ones.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9776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66" y="4162806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950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a system, not just writing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43708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engineering reframed content as something built for structure, clarity, and conversion.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6576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2F8F7"/>
          </a:solidFill>
          <a:ln/>
          <a:effectLst>
            <a:outerShdw sx="100000" sy="100000" kx="0" ky="0" algn="bl" rotWithShape="0" blurRad="101600" dist="38100" dir="2700000">
              <a:srgbClr val="0B3B3F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9776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126" y="4162806"/>
            <a:ext cx="315468" cy="3154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9502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and UX are connected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437083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 and reader experience aren't separate goals — good structure serves both.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Digital Marketing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114800" cy="411480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137160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9417" y="164317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42900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Grateful for the chance to learn SEO, keyword strategy, and digital asset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through DecodeLabs' virtual internship program.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06440" y="4434840"/>
            <a:ext cx="54864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7091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Noor-Ul-Ain Fatima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0" y="507492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B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Computer Engineering · Bahauddin Zakariya University, Multan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0" y="5376672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8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Virtual Digital Marketing Internship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Internship - DecodeLabs</dc:title>
  <dc:subject>PptxGenJS Presentation</dc:subject>
  <dc:creator>Noor-Ul-Ain Fatima</dc:creator>
  <cp:lastModifiedBy>Noor-Ul-Ain Fatima</cp:lastModifiedBy>
  <cp:revision>1</cp:revision>
  <dcterms:created xsi:type="dcterms:W3CDTF">2026-06-21T10:32:29Z</dcterms:created>
  <dcterms:modified xsi:type="dcterms:W3CDTF">2026-06-21T10:32:29Z</dcterms:modified>
</cp:coreProperties>
</file>